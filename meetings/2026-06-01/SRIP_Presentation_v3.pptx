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90EE60-664E-4AE5-96C2-559D2FF7B615}">
  <a:tblStyle styleId="{7090EE60-664E-4AE5-96C2-559D2FF7B6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27ad7c3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27ad7c3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29864278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29864278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29864278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29864278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306c5b61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306c5b61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29864278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29864278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306c5b6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306c5b6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27ad7c3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27ad7c3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27ad7c31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27ad7c31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29864278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29864278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27ad7c31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27ad7c31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29864278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29864278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27ad7c31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27ad7c31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HNN as Ising Machines &amp;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Gradient-Based Training Methods</a:t>
            </a:r>
            <a:endParaRPr/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HNN as Ising Machines &amp;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Gradient-Based Training Methods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Ising Machine — Connection to HNNs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Ising Hamiltonian H = −Σ Jᵢⱼσᵢσⱼ − Σ hᵢσᵢ maps exactly onto Hopfield energy E = −½ sᵀWs − bᵀs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Set Wᵢⱼ = 2Jᵢⱼ and bᵢ = hᵢ — the async update sᵢ ← sign(Wᵢ·s + bᵢ) minimises H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Finding the ground state (minimum H) is NP-hard — a converging HNN IS an Ising machine solver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Symmetry of J required for convergence guarantee — already satisfied by Storkey / Hebbian W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Our code is already a valid Ising machine — one missing piece: bias vector b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Ising Machine — Connection to HNNs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 Ising Hamiltonian H = −Σ Jᵢⱼσᵢσⱼ − Σ hᵢσᵢ maps exactly onto Hopfield energy E = −½ sᵀWs − bᵀs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Set Wᵢⱼ = 2Jᵢⱼ and bᵢ = hᵢ — the async update sᵢ ← sign(Wᵢ·s + bᵢ) minimises H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Finding the ground state (minimum H) is NP-hard — a converging HNN IS an Ising machine solver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Symmetry of J required for convergence guarantee — already satisfied by Storkey / Hebbian W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Our code is already a valid Ising machine — one missing piece: bias vector b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QUBO ↔ Ising Conversion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Binary {0,1} variables xᵢ relate to bipolar spins via xᵢ = (σᵢ + 1)/2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Any QUBO  min xᵀQx  rewrites in Ising form as: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Jᵢⱼ = −Qᵢⱼ / 4   (off-diagonal coupling, i ≠ j)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hᵢ = −(Qᵢᵢ + Σⱼ Qᵢⱼ) / 4   (linear field from diagonal + row sum)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MaxCut: Wᵢⱼ = −wᵢⱼ for each edge, no bias — anti-aligned spins cut the edge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MaxCut needs NO bias vector — simplest Ising embedding, ideal first demo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QUBO ↔ Ising Conversion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Binary {0,1} variables xᵢ relate to bipolar spins via xᵢ = (σᵢ + 1)/2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Any QUBO  min xᵀQx  rewrites in Ising form as: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Jᵢⱼ = −Qᵢⱼ / 4   (off-diagonal coupling, i ≠ j)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hᵢ = −(Qᵢᵢ + Σⱼ Qᵢⱼ) / 4   (linear field from diagonal + row sum)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MaxCut: Wᵢⱼ = −wᵢⱼ for each edge, no bias — anti-aligned spins cut the edge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MaxCut needs NO bias vector — simplest Ising embedding, ideal first demo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Changes: hopfield_net.py → Ising Solver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Three trivial edits unlock all combinatorial optimisation problems: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self.b = np.zeros(N)  →  add bias vector to __init__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h_i = float(self.W[i] @ s) + self.b[i]  →  one-line change in run()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energy() updated: −½ sᵀWs − bᵀs  →  correct for optimisation tracking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Plus three new methods: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from_ising(J, h)  →  construct directly from Ising couplings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from_qubo(Q)  →  QUBO → Ising → W, b automatically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run_annealed(T_start, T_end, n_sweeps)  →  escape local minima via SA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Changes: hopfield_net.py → Ising Solver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Three trivial edits unlock all combinatorial optimisation problems: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self.b = np.zeros(N)  →  add bias vector to __init__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h_i = float(self.W[i] @ s) + self.b[i]  →  one-line change in run()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energy() updated: −½ sᵀWs − bᵀs  →  correct for optimisation tracking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Plus three new methods: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from_ising(J, h)  →  construct directly from Ising couplings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from_qubo(Q)  →  QUBO → Ising → W, b automatically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run_annealed(T_start, T_end, n_sweeps)  →  escape local minima via SA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MaxCut — Simplest Ising Embedding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Partition G=(V,E) into sets S and V\S to maximise the weight of cut edges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Assign sᵢ = +1 (in S) or −1 (not in S). Edge (i,j) is cut iff sᵢsⱼ = −1.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Weight matrix: Wᵢⱼ = −wᵢⱼ for each edge — minimising E maximises the cut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No bias vector needed — simplest problem to implement and verify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Benchmark datasets: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Gset — 71 instances, 800–10,000 nodes (Stanford ORLIB, Burer et al. 2002)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BiqMac Library — up to 3,000 nodes, known optimal solutions for verification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MaxCutBench 2024 — standardised benchmark (Böther et al., arXiv:2406.11897)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MaxCut — Simplest Ising Embedding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Partition G=(V,E) into sets S and V\S to maximise the weight of cut edges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Assign sᵢ = +1 (in S) or −1 (not in S). Edge (i,j) is cut iff sᵢsⱼ = −1.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Weight matrix: Wᵢⱼ = −wᵢⱼ for each edge — minimising E maximises the cut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No bias vector needed — simplest problem to implement and verify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Benchmark datasets: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Gset — 71 instances, 800–10,000 nodes (Stanford ORLIB, Burer et al. 2002)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BiqMac Library — up to 3,000 nodes, known optimal solutions for verification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MaxCutBench 2024 — standardised benchmark (Böther et al., arXiv:2406.11897)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Travelling Salesman — Hopfield &amp; Tank 1985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Encode N cities × N positions as N² binary neurons V_{xi} (city x at position i in tour)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Energy has four penalty terms: row constraint + column constraint + total count + distance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Penalty weights A,B,C,D must be tuned — too small → invalid tours, too large → random tours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Only ~1–8% of runs yield valid tours for N=10 (Wilson &amp; Pawley 1988)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Weight matrix W is N²×N², bias b is length N² — far larger than memory-recall HNN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Benchmarks: TSPLIB (Reinelt 1991) — 100+ instances from N=51 to 1.8M cities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Waterloo TSP data — known optimal solutions for correctness verification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Travelling Salesman — Hopfield &amp; Tank 1985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Encode N cities × N positions as N² binary neurons V_{xi} (city x at position i in tour)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Energy has four penalty terms: row constraint + column constraint + total count + distance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Penalty weights A,B,C,D must be tuned — too small → invalid tours, too large → random tours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Only ~1–8% of runs yield valid tours for N=10 (Wilson &amp; Pawley 1988)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Weight matrix W is N²×N², bias b is length N² — far larger than memory-recall HNN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Benchmarks: TSPLIB (Reinelt 1991) — 100+ instances from N=51 to 1.8M cities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Waterloo TSP data — known optimal solutions for correctness verification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NP Problems as Ising / HNN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Lucas (2014) gives explicit QUBO/Ising formulations for all of Karp's 21 NP-complete problems: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Number Partitioning — Wᵢⱼ = −2nᵢnⱼ, no bias. Second simplest after MaxCut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Graph Coloring (k-color) — N·k spins, penalty per violated edge + per-vertex constraint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Vertex Cover — N spins, penalty per uncovered edge (minimise |S| s.t. all edges covered)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k-SAT — each clause adds a penalty; ground state = solution or nearest feasible state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Hamiltonian Cycle, Clique, Set Cover — all map with O(N) to O(N²) spins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Reference: Lucas, A. (2014). Ising formulations of many NP problems. Frontiers in Physics 2:5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NP Problems as Ising / HNN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Lucas (2014) gives explicit QUBO/Ising formulations for all of Karp's 21 NP-complete problems: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Number Partitioning — Wᵢⱼ = −2nᵢnⱼ, no bias. Second simplest after MaxCut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Graph Coloring (k-color) — N·k spins, penalty per violated edge + per-vertex constraint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Vertex Cover — N spins, penalty per uncovered edge (minimise |S| s.t. all edges covered)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k-SAT — each clause adds a penalty; ground state = solution or nearest feasible state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Hamiltonian Cycle, Clique, Set Cover — all map with O(N) to O(N²) spins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Reference: Lucas, A. (2014). Ising formulations of many NP problems. Frontiers in Physics 2:5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Ising Machines — Landscape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D-Wave (quantum annealing) — 5,627 superconducting qubits; sparse topology; 15 mK cryogenic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Fujitsu Digital Annealer — ASIC, all-to-all connectivity, 8K–100K variables; parallel SA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Toshiba SBM (FPGA) — Simulated Bifurcation Algorithm, 100K spins, deterministic, 0.5 ms on MaxCut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Patel et al. Nature Electronics 2022 — FPGA p-bits via tanh LUT + LFSR; 10⁷× faster than D-Wave on MaxCut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Our LUT-HNN vs the field: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Only approach using Boolean minimisation (Espresso SOP) of the update function — no arithmetic at inference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Fully reconfigurable per problem instance — re-synthesise W for each new graph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Deterministic updates (no LFSR noise) → add run_annealed() for escape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Ising Machines — Landscape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D-Wave (quantum annealing) — 5,627 superconducting qubits; sparse topology; 15 mK cryogenic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Fujitsu Digital Annealer — ASIC, all-to-all connectivity, 8K–100K variables; parallel SA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Toshiba SBM (FPGA) — Simulated Bifurcation Algorithm, 100K spins, deterministic, 0.5 ms on MaxCut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Patel et al. Nature Electronics 2022 — FPGA p-bits via tanh LUT + LFSR; 10⁷× faster than D-Wave on MaxCut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Our LUT-HNN vs the field: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Only approach using Boolean minimisation (Espresso SOP) of the update function — no arithmetic at inference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Fully reconfigurable per problem instance — re-synthesise W for each new graph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Deterministic updates (no LFSR noise) → add run_annealed() for escape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Gradient-Based Training for HNNs?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Classical closed-form rules saturate well below theoretical limits: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Hebbian: 0.138N capacity — practical limit ~2 patterns for N=16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Storkey: ~0.22N — better cross-talk correction, still far from maximum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Pseudo-inverse: up to N exact fixed points, but offline and requires matrix inversion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Gradient-based methods can exceed these limits and support supervised objectives: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Perceptron / 3-threshold SGD: ~0.64N capacity (Gardner bound) with local incremental updates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Equilibrium Propagation: exact backprop gradient via two settle phases, no error wiring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MPF (Sohl-Dickstein 2011): analytic gradient on single-bit-flip neighbours, ≥1 pattern/neuron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Gradient-Based Training for HNNs?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Classical closed-form rules saturate well below theoretical limits: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Hebbian: 0.138N capacity — practical limit ~2 patterns for N=16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Storkey: ~0.22N — better cross-talk correction, still far from maximum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Pseudo-inverse: up to N exact fixed points, but offline and requires matrix inversion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Gradient-based methods can exceed these limits and support supervised objectives: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Perceptron / 3-threshold SGD: ~0.64N capacity (Gardner bound) with local incremental updates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Equilibrium Propagation: exact backprop gradient via two settle phases, no error wiring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MPF (Sohl-Dickstein 2011): analytic gradient on single-bit-flip neighbours, ≥1 pattern/neuron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Equilibrium Propagation (Scellier &amp; Bengio 2017)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Run network to free-phase fixed point s*, then nudge output units toward target → perturbed fixed point s^β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Weight update — purely local, Hebbian-style: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ΔWᵢⱼ ∝ (sᵢ* sⱼ* − sᵢ^β sⱼ^β) / β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Proven equivalent to BPTT via implicit function theorem on the fixed-point equation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EqSpike (Laydevant 2021): spiking EP on neuromorphic silicon — 2–3 orders lower energy than GPU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FPGA relevance: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Both phases reuse the same async settle circuit — no additional hardware for training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Binary neurons: s^β − s* are sparse bit-flips → XOR-based weight increment logic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Equilibrium Propagation (Scellier &amp; Bengio 2017)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Run network to free-phase fixed point s*, then nudge output units toward target → perturbed fixed point s^β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Weight update — purely local, Hebbian-style: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ΔWᵢⱼ ∝ (sᵢ* sⱼ* − sᵢ^β sⱼ^β) / β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Proven equivalent to BPTT via implicit function theorem on the fixed-point equation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EqSpike (Laydevant 2021): spiking EP on neuromorphic silicon — 2–3 orders lower energy than GPU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FPGA relevance: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Both phases reuse the same async settle circuit — no additional hardware for training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Binary neurons: s^β − s* are sparse bit-flips → XOR-based weight increment logic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SGD on the Fixed-Point Loss — Perceptron Rule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Define a margin loss: pattern ξ^μ is stable iff every neuron i gets the right sign from the local field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L(W) = Σ_μ Σᵢ max(0,  −ξᵢ^μ · (Wᵢ · ξ^μ))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Gradient: ΔWᵢⱼ ∝ −Σ_{μ: violated} ξᵢ^μ ξⱼ^μ  — local, Hebbian, incremental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Converges to Gardner bound: ~0.64N capacity (vs Hebbian 0.138N)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Three-threshold variant (Alemi et al., PLoS Comp. Bio. 2015) adds learning/unlearning thresholds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FPGA: margin violation check is a single-bit comparison → simple on-chip FSM for online learning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SGD on the Fixed-Point Loss — Perceptron Rule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Define a margin loss: pattern ξ^μ is stable iff every neuron i gets the right sign from the local field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L(W) = Σ_μ Σᵢ max(0,  −ξᵢ^μ · (Wᵢ · ξ^μ))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Gradient: ΔWᵢⱼ ∝ −Σ_{μ: violated} ξᵢ^μ ξⱼ^μ  — local, Hebbian, incremental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Converges to Gardner bound: ~0.64N capacity (vs Hebbian 0.138N)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Three-threshold variant (Alemi et al., PLoS Comp. Bio. 2015) adds learning/unlearning thresholds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FPGA: margin violation check is a single-bit comparison → simple on-chip FSM for online learning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Method Comparison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Method              |  Capacity   |  Supervised  |  FPGA Fit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─────────────────────────────────────────────────────────────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Hebbian             |  0.138N     |  No          |  Excellent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Storkey             |  ~0.22N     |  No          |  Excellent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Pseudo-inverse      |  N          |  No          |  Good (offline)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Perceptron SGD      |  ~0.64N     |  No          |  Excellent (FSM)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Equilibrium Prop.   |  Loss-dep   |  Yes         |  Good (EqSpike)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MPF                 |  ≥1/neuron  |  No          |  Good (sparse)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DEQ Adjoint         |  Loss-dep   |  Yes         |  Moderate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Method Comparison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Method              |  Capacity   |  Supervised  |  FPGA Fit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─────────────────────────────────────────────────────────────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Hebbian             |  0.138N     |  No          |  Excellent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Storkey             |  ~0.22N     |  No          |  Excellent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Pseudo-inverse      |  N          |  No          |  Good (offline)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Perceptron SGD      |  ~0.64N     |  No          |  Excellent (FSM)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Equilibrium Prop.   |  Loss-dep   |  Yes         |  Good (EqSpike)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MPF                 |  ≥1/neuron  |  No          |  Good (sparse)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DEQ Adjoint         |  Loss-dep   |  Yes         |  Moderate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Add bias vector b to hopfield_net.py — unlocks all Ising / optimisation problems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Implement from_ising(J, h) and from_qubo(Q) classmethods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Demo: MaxCut on small graph — validate Ising mode vs known optimum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Demo: Number partitioning — simplest bias-free problem after MaxCut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Implement perceptron / 3-threshold SGD rule — target ~0.64N capacity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Explore Equilibrium Propagation for supervised pattern completion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Phase 2 hardware: integrate bias bᵢ into LUT truth table generation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Espresso handles bᵢ transparently as a threshold shift — no pipeline changes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Add bias vector b to hopfield_net.py — unlocks all Ising / optimisation problems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Implement from_ising(J, h) and from_qubo(Q) classmethods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Demo: MaxCut on small graph — validate Ising mode vs known optimum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Demo: Number partitioning — simplest bias-free problem after MaxCut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Implement perceptron / 3-threshold SGD rule — target ~0.64N capacity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Explore Equilibrium Propagation for supervised pattern completion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/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Phase 2 hardware: integrate bias bᵢ into LUT truth table generation</a:t>
            </a:r>
            <a:endParaRPr sz="1730">
              <a:solidFill>
                <a:srgbClr val="000000"/>
              </a:solidFill>
            </a:endParaRPr>
          </a:p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0"/>
              <a:buChar char="●"/>
            </a:pPr>
            <a:r>
              <a:rPr lang="en" sz="1730">
                <a:solidFill>
                  <a:srgbClr val="000000"/>
                </a:solidFill>
              </a:rPr>
              <a:t>Espresso handles bᵢ transparently as a threshold shift — no pipeline changes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