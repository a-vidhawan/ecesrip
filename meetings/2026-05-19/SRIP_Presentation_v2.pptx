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AD7D1E3-181D-493F-9F2A-E2EEA103340D}">
  <a:tblStyle styleId="{DAD7D1E3-181D-493F-9F2A-E2EEA103340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5454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LUT Based HW Implementations of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Hopfield Neural Nets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1" name="Google Shape;101;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58158"/>
                </a:solidFill>
              </a:rPr>
              <a:t>Hopfield Neural Networks</a:t>
            </a:r>
            <a:endParaRPr/>
          </a:p>
        </p:txBody>
      </p:sp>
      <p:sp>
        <p:nvSpPr>
          <p:cNvPr id="102" name="Google Shape;102;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Fully connected recurrent network — N bipolar neurons, sᵢ ∈ {-1, +1}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Symmetric weight matrix W with zero diagonal — no self-connections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Training writes W once; stores M patterns as energy minima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Energy:  E(s) = −½ sᵀWs  — stored patterns sit at local minima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Inference: start from corrupted input, converge to nearest stored memory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Unlike deep nets — no layers, no backprop, no gradient descent at inference</a:t>
            </a:r>
            <a:endParaRPr sz="173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3" name="Google Shape;103;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58158"/>
                </a:solidFill>
              </a:rPr>
              <a:t>Hebbian Learning</a:t>
            </a:r>
            <a:endParaRPr/>
          </a:p>
        </p:txBody>
      </p:sp>
      <p:sp>
        <p:nvSpPr>
          <p:cNvPr id="104" name="Google Shape;104;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730" b="1">
                <a:solidFill>
                  <a:srgbClr val="158158"/>
                </a:solidFill>
              </a:rPr>
              <a:t>Wᵢⱼ = (1/N) Σ_μ  ξᵢ^μ ξⱼ^μ ,    Wᵢᵢ = 0</a:t>
            </a:r>
            <a:endParaRPr sz="1730">
              <a:solidFill>
                <a:srgbClr val="158158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Neurons that agree in a pattern → positive weight; disagree → negative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All M patterns accumulated in one shot — no iterations, order-independent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Local: Wᵢⱼ depends only on neurons i and j across patterns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Incremental: new pattern = rank-1 update ΔW = ξξᵀ / N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Storage capacity ≈ 0.138N — spurious states dominate above this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Note: inverted patterns (−ξ) are also attractors</a:t>
            </a:r>
            <a:endParaRPr sz="173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5" name="Google Shape;105;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58158"/>
                </a:solidFill>
              </a:rPr>
              <a:t>Storkey Learning</a:t>
            </a:r>
            <a:endParaRPr/>
          </a:p>
        </p:txBody>
      </p:sp>
      <p:sp>
        <p:nvSpPr>
          <p:cNvPr id="106" name="Google Shape;106;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730" b="1">
                <a:solidFill>
                  <a:srgbClr val="158158"/>
                </a:solidFill>
              </a:rPr>
              <a:t>ΔW = (1/N)(ξ^μ(ξ^μ)ᵀ − h(ξ^μ)ᵀ − ξ^μ hᵀ),   hᵢ = Σⱼ≠ᵢ Wᵢⱼ ξⱼ^μ</a:t>
            </a:r>
            <a:endParaRPr sz="1730">
              <a:solidFill>
                <a:srgbClr val="158158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hᵢ = local field — what current weights already predict for pattern μ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Correction terms subtract existing crosstalk before writing the new pattern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Updated once per pattern, in presentation order — earlier patterns may be overwritten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Local and incremental: bounded work per pattern, no global recomputation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Storage capacity ≈ 0.14–0.22N — significantly better than Hebbian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~2× compute per pattern vs Hebbian, but far fewer spurious states above capacity</a:t>
            </a:r>
            <a:endParaRPr sz="173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" name="Google Shape;107;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58158"/>
                </a:solidFill>
              </a:rPr>
              <a:t>Pseudo-inverse Learning</a:t>
            </a:r>
            <a:endParaRPr/>
          </a:p>
        </p:txBody>
      </p:sp>
      <p:sp>
        <p:nvSpPr>
          <p:cNvPr id="108" name="Google Shape;108;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730" b="1">
                <a:solidFill>
                  <a:srgbClr val="158158"/>
                </a:solidFill>
              </a:rPr>
              <a:t>W = Ξ (ΞᵀΞ)⁻¹ Ξᵀ    where Ξ = [ξ¹|…|ξᴹ]  (N×M pattern matrix)</a:t>
            </a:r>
            <a:endParaRPr sz="1730">
              <a:solidFill>
                <a:srgbClr val="158158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Theoretically optimal — stores up to N linearly independent patterns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Weights W form the orthogonal projection onto the pattern subspace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 b="1">
                <a:solidFill>
                  <a:srgbClr val="000000"/>
                </a:solidFill>
              </a:rPr>
              <a:t>NOT incremental: one new pattern → full pseudo-inverse recomputed over all M patterns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 b="1">
                <a:solidFill>
                  <a:srgbClr val="000000"/>
                </a:solidFill>
              </a:rPr>
              <a:t>NOT local: each Wᵢⱼ depends on all M patterns simultaneously via matrix inversion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Hardware cost: O(N²M + M³) matrix inversion — no online update circuit is feasible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For our project (offline training → static LUT): technically usable, but Storkey preferred</a:t>
            </a:r>
            <a:endParaRPr sz="173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Google Shape;109;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58158"/>
                </a:solidFill>
              </a:rPr>
              <a:t>Local &amp; Incremental — Why It Matters</a:t>
            </a:r>
            <a:endParaRPr/>
          </a:p>
        </p:txBody>
      </p:sp>
      <p:sp>
        <p:nvSpPr>
          <p:cNvPr id="110" name="Google Shape;110;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1730" b="1">
                <a:solidFill>
                  <a:srgbClr val="000000"/>
                </a:solidFill>
              </a:rPr>
              <a:t>Local: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Wᵢⱼ is determined only by neurons i and j — no global communication during training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Maps directly to hardware: each weight update is an independent multiply-accumulate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1730" b="1">
                <a:solidFill>
                  <a:srgbClr val="000000"/>
                </a:solidFill>
              </a:rPr>
              <a:t>Incremental: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Add patterns one at a time — bounded, fixed work per pattern (rank-1 update)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Hardware relearning: Storkey → small fixed update circuit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Hardware relearning: pseudo-inverse → full matrix inverter on chip — impractical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Pseudo-inverse: global (all patterns coupled) + batch (all patterns needed at once)</a:t>
            </a:r>
            <a:endParaRPr sz="173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1" name="Google Shape;111;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58158"/>
                </a:solidFill>
              </a:rPr>
              <a:t>Inference Process</a:t>
            </a:r>
            <a:endParaRPr/>
          </a:p>
        </p:txBody>
      </p:sp>
      <p:sp>
        <p:nvSpPr>
          <p:cNvPr id="112" name="Google Shape;112;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730" b="1">
                <a:solidFill>
                  <a:srgbClr val="158158"/>
                </a:solidFill>
              </a:rPr>
              <a:t>sᵢ ← sign( hᵢ ),    hᵢ = Σⱼ Wᵢⱼ sⱼ   (local field — weighted vote)</a:t>
            </a:r>
            <a:endParaRPr sz="1730">
              <a:solidFill>
                <a:srgbClr val="158158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Each neuron checks its neighbours: positive field → +1, negative field → −1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Tie (hᵢ = 0): hold current state — no change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Sweep through all neurons repeatedly until no neuron changes state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Fixed point = stored memory (perfect recall) or spurious state (above capacity)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LUT insight: sign(hᵢ) is a Boolean function of N binary inputs → truth table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Only the sign matters, not the magnitude — hardware needs no multiplier</a:t>
            </a:r>
            <a:endParaRPr sz="173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Google Shape;113;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58158"/>
                </a:solidFill>
              </a:rPr>
              <a:t>Update Order Semantics</a:t>
            </a:r>
            <a:endParaRPr/>
          </a:p>
        </p:txBody>
      </p:sp>
      <p:sp>
        <p:nvSpPr>
          <p:cNvPr id="114" name="Google Shape;114;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 b="1">
                <a:solidFill>
                  <a:srgbClr val="000000"/>
                </a:solidFill>
              </a:rPr>
              <a:t>Async-cyclic (chosen for hardware):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One neuron per clock cycle, fixed order 0→1→…→N−1, repeat. Fully deterministic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 b="1">
                <a:solidFill>
                  <a:srgbClr val="000000"/>
                </a:solidFill>
              </a:rPr>
              <a:t>Async-random: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Random order each sweep — unbiased, same convergence guarantee as cyclic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 b="1">
                <a:solidFill>
                  <a:srgbClr val="000000"/>
                </a:solidFill>
              </a:rPr>
              <a:t>Sync: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All N neurons update simultaneously — fast throughput but unsafe (2-cycles possible)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Convergence proof (async only): each flip ΔE = −hᵢΔsᵢ ≤ 0 — energy never increases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Goles &amp; Olivos (1980): sync with symmetric W → fixed point OR infinite 2-cycle oscillation</a:t>
            </a:r>
            <a:endParaRPr sz="173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5" name="Google Shape;115;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58158"/>
                </a:solidFill>
              </a:rPr>
              <a:t>The 2-Cycle Problem (Sync Update)</a:t>
            </a:r>
            <a:endParaRPr/>
          </a:p>
        </p:txBody>
      </p:sp>
      <p:sp>
        <p:nvSpPr>
          <p:cNvPr id="116" name="Google Shape;116;body"/>
          <p:cNvSpPr txBox="1"/>
          <p:nvPr>
            <p:ph idx="1" type="body"/>
          </p:nvPr>
        </p:nvSpPr>
        <p:spPr>
          <a:xfrm>
            <a:off x="311700" y="1152475"/>
            <a:ext cx="3400000" cy="35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</a:rPr>
              <a:t>2-cycle: states A and B where  sync(A) = B  and  sync(B) = A  — infinite oscillation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</a:rPr>
              <a:t>Same weights, same start — only update mode differs (top row sync, bottom async-cyclic)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</a:rPr>
              <a:t>Detection rule:  s[t] == s[t−2]  AND  s[t] ≠ s[t−1]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</a:rPr>
              <a:t>Not an edge case — demonstrated with M=4 patterns in N=16 above capacity (load = 0.25)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</a:rPr>
              <a:t>Hardware sync implementation must include a 2-cycle detector to guarantee termination</a:t>
            </a:r>
            <a:endParaRPr sz="1500">
              <a:solidFill>
                <a:srgbClr val="000000"/>
              </a:solidFill>
            </a:endParaRPr>
          </a:p>
        </p:txBody>
      </p:sp>
      <p:pic>
        <p:nvPicPr>
          <p:cNvPr id="117" name="Picture 116" descr="demo_sync_2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097280"/>
            <a:ext cx="5394960" cy="274757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7" name="Google Shape;117;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58158"/>
                </a:solidFill>
              </a:rPr>
              <a:t>Training Code Capabilities</a:t>
            </a:r>
            <a:endParaRPr/>
          </a:p>
        </p:txBody>
      </p:sp>
      <p:sp>
        <p:nvSpPr>
          <p:cNvPr id="118" name="Google Shape;118;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 b="1">
                <a:solidFill>
                  <a:srgbClr val="000000"/>
                </a:solidFill>
              </a:rPr>
              <a:t>Learning rules — one-line switch: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RULE = STORKEY  /  HEBBIAN   (sim/python/hopfield_net.py, line 20)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 b="1">
                <a:solidFill>
                  <a:srgbClr val="000000"/>
                </a:solidFill>
              </a:rPr>
              <a:t>Update modes — one-line switch: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UPDATE_MODE = ASYNC_CYCLIC  /  ASYNC_RANDOM  /  SYNC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 b="1">
                <a:solidFill>
                  <a:srgbClr val="000000"/>
                </a:solidFill>
              </a:rPr>
              <a:t>Benchmark sweep  (sim/python/benchmark.py):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N ∈ {6,8,10,12,14,16}, load M/N up to 0.30, 9 noise levels, 50 trials per point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Metrics: recall accuracy, basin width, spurious rate, mean convergence sweeps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Output: timestamped CSV → sim/results/,  plots → sim/plots/</a:t>
            </a:r>
            <a:endParaRPr sz="173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9" name="Google Shape;119;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58158"/>
                </a:solidFill>
              </a:rPr>
              <a:t>Datasets &amp; Benchmarks</a:t>
            </a:r>
            <a:endParaRPr/>
          </a:p>
        </p:txBody>
      </p:sp>
      <p:sp>
        <p:nvSpPr>
          <p:cNvPr id="120" name="Google Shape;120;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 b="1">
                <a:solidFill>
                  <a:srgbClr val="000000"/>
                </a:solidFill>
              </a:rPr>
              <a:t>Random binary (built-in):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Synthetic N-bit patterns, M configurable — fully reproducible, no external data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 b="1">
                <a:solidFill>
                  <a:srgbClr val="000000"/>
                </a:solidFill>
              </a:rPr>
              <a:t>sklearn 8×8 digits (built-in, no internet):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1,797 hand-written digit images (0–9), binarised at threshold 8 → {−1, +1}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 b="1">
                <a:solidFill>
                  <a:srgbClr val="000000"/>
                </a:solidFill>
              </a:rPr>
              <a:t>Key results from benchmark sweep: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Both rules: zero spurious rate below 0.138N — matches theoretical capacity exactly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Above capacity (N=8, load=0.38): Hebbian → 79% spurious;  Storkey → ~0%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Basin width scales with N:  N=16, M=1 → 6 bits;   N=6, M=1 → 2 bits</a:t>
            </a:r>
            <a:endParaRPr sz="173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58158"/>
                </a:solidFill>
              </a:rPr>
              <a:t>LUT Synthesis Pipeline</a:t>
            </a:r>
            <a:endParaRPr/>
          </a:p>
        </p:txBody>
      </p:sp>
      <p:sp>
        <p:nvSpPr>
          <p:cNvPr id="122" name="Google Shape;122;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 b="1">
                <a:solidFill>
                  <a:srgbClr val="158158"/>
                </a:solidFill>
              </a:rPr>
              <a:t>W (N×N weights, Python)</a:t>
            </a:r>
            <a:endParaRPr sz="1730">
              <a:solidFill>
                <a:srgbClr val="158158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58DC7"/>
                </a:solidFill>
              </a:rPr>
              <a:t>    ↓  truth_table_gen.py  →  2ᴺ rows per neuron  (.pla format)</a:t>
            </a:r>
            <a:endParaRPr sz="1730">
              <a:solidFill>
                <a:srgbClr val="058DC7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58DC7"/>
                </a:solidFill>
              </a:rPr>
              <a:t>    ↓  Espresso minimiser   →  minimal Sum-of-Products Boolean expression</a:t>
            </a:r>
            <a:endParaRPr sz="1730">
              <a:solidFill>
                <a:srgbClr val="058DC7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58DC7"/>
                </a:solidFill>
              </a:rPr>
              <a:t>    ↓  sv_emitter.py        →  SystemVerilog  always_comb  blocks</a:t>
            </a:r>
            <a:endParaRPr sz="1730">
              <a:solidFill>
                <a:srgbClr val="058DC7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58DC7"/>
                </a:solidFill>
              </a:rPr>
              <a:t>    ↓  Quartus synthesis    →  LUT-mapped netlist on Cyclone V FPGA</a:t>
            </a:r>
            <a:endParaRPr sz="1730">
              <a:solidFill>
                <a:srgbClr val="058DC7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Hazard-free mode: Espresso -Dhazard adds consensus terms — safe for single-variable transitions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Feasibility:  N≤10 comfortable (~1K rows/neuron),  N=16 borderline (~64K rows)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N&gt;16 → sparse: keep F strongest weights per neuron → 2ᶠ rows  (LogicNets approach)</a:t>
            </a:r>
            <a:endParaRPr sz="173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3" name="Google Shape;123;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58158"/>
                </a:solidFill>
              </a:rPr>
              <a:t>Research Roadmap</a:t>
            </a:r>
            <a:endParaRPr/>
          </a:p>
        </p:txBody>
      </p:sp>
      <p:sp>
        <p:nvSpPr>
          <p:cNvPr id="124" name="Google Shape;124;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1730" b="1">
                <a:solidFill>
                  <a:srgbClr val="158158"/>
                </a:solidFill>
              </a:rPr>
              <a:t>Phase 1  (next step): Clocked Baseline</a:t>
            </a:r>
            <a:endParaRPr sz="1730">
              <a:solidFill>
                <a:srgbClr val="158158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Python training → truth tables → Espresso → clocked SystemVerilog → ModelSim + Quartus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One flip-flop per neuron, one LUT evaluation per clock cycle, counter FSM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Goal: formal termination proof by energy argument, ModelSim RTL vs Python agreement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 b="1">
                <a:solidFill>
                  <a:srgbClr val="158158"/>
                </a:solidFill>
              </a:rPr>
              <a:t>Phase 2: Async Combinational Feedback</a:t>
            </a:r>
            <a:endParaRPr sz="1730">
              <a:solidFill>
                <a:srgbClr val="158158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Strip flip-flops — wire LUT outputs directly back to inputs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Demonstrate convergence without clock; analyse hazard-free correctness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 b="1">
                <a:solidFill>
                  <a:srgbClr val="158158"/>
                </a:solidFill>
              </a:rPr>
              <a:t>Phase 3: Ising Machine</a:t>
            </a:r>
            <a:endParaRPr sz="1730">
              <a:solidFill>
                <a:srgbClr val="158158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Encode NP-hard problem instance as weight matrix W — run hardware to find ground state</a:t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30">
                <a:solidFill>
                  <a:srgbClr val="000000"/>
                </a:solidFill>
              </a:rPr>
              <a:t>Approximate combinatorial optimisation using the same LUT synthesis pipeline</a:t>
            </a:r>
            <a:endParaRPr sz="173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5" name="Google Shape;125;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58158"/>
                </a:solidFill>
              </a:rPr>
              <a:t>Demo: Hopfield Recall</a:t>
            </a:r>
            <a:endParaRPr/>
          </a:p>
        </p:txBody>
      </p:sp>
      <p:sp>
        <p:nvSpPr>
          <p:cNvPr id="126" name="Google Shape;126;body"/>
          <p:cNvSpPr txBox="1"/>
          <p:nvPr>
            <p:ph idx="1" type="body"/>
          </p:nvPr>
        </p:nvSpPr>
        <p:spPr>
          <a:xfrm>
            <a:off x="311700" y="1152475"/>
            <a:ext cx="3400000" cy="35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3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</a:rPr>
              <a:t>N=64, M=8 patterns  (load = 0.125, below 0.138N capacity)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</a:rPr>
              <a:t>sklearn 8×8 digits 0–7, binarised — 25% pixel noise, Storkey, async-cyclic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</a:rPr>
              <a:t>All 8 patterns recalled perfectly in ≤ 2 sweeps = ≤ 128 clock cycles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</a:rPr>
              <a:t>Energy curve per neuron-update step — strictly decreasing to fixed point</a:t>
            </a:r>
            <a:endParaRPr sz="1500">
              <a:solidFill>
                <a:srgbClr val="000000"/>
              </a:solidFill>
            </a:endParaRPr>
          </a:p>
        </p:txBody>
      </p:sp>
      <p:pic>
        <p:nvPicPr>
          <p:cNvPr id="127" name="Picture 126" descr="demo_recall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097280"/>
            <a:ext cx="3805139" cy="38633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